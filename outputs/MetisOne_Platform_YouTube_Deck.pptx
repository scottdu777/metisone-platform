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4f9e5f201e4698" /><Relationship Type="http://schemas.openxmlformats.org/officeDocument/2006/relationships/extended-properties" Target="/docProps/app.xml" Id="R4de10f58f3c24e01" /><Relationship Type="http://schemas.openxmlformats.org/officeDocument/2006/relationships/officeDocument" Target="/ppt/presentation.xml" Id="R42722b7c25b042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1e11ac04304194"/>
  </p:sldMasterIdLst>
  <p:notesMasterIdLst>
    <p:notesMasterId xmlns:r="http://schemas.openxmlformats.org/officeDocument/2006/relationships" r:id="Rbf8b372b48e14536"/>
  </p:notesMasterIdLst>
  <p:sldIdLst>
    <p:sldId xmlns:r="http://schemas.openxmlformats.org/officeDocument/2006/relationships" id="256" r:id="R6a6ab140f80341a0"/>
    <p:sldId xmlns:r="http://schemas.openxmlformats.org/officeDocument/2006/relationships" id="257" r:id="Rb47ad266951143de"/>
    <p:sldId xmlns:r="http://schemas.openxmlformats.org/officeDocument/2006/relationships" id="258" r:id="R085d92aa13114e66"/>
    <p:sldId xmlns:r="http://schemas.openxmlformats.org/officeDocument/2006/relationships" id="259" r:id="R428be32dc08b494a"/>
    <p:sldId xmlns:r="http://schemas.openxmlformats.org/officeDocument/2006/relationships" id="260" r:id="R53903a881f564903"/>
    <p:sldId xmlns:r="http://schemas.openxmlformats.org/officeDocument/2006/relationships" id="261" r:id="R9ee5b8c6d0ed4e30"/>
    <p:sldId xmlns:r="http://schemas.openxmlformats.org/officeDocument/2006/relationships" id="262" r:id="R30ef110b5f964aef"/>
    <p:sldId xmlns:r="http://schemas.openxmlformats.org/officeDocument/2006/relationships" id="263" r:id="R07dcf000bba442cf"/>
    <p:sldId xmlns:r="http://schemas.openxmlformats.org/officeDocument/2006/relationships" id="264" r:id="R11dc52ca50f0413b"/>
    <p:sldId xmlns:r="http://schemas.openxmlformats.org/officeDocument/2006/relationships" id="265" r:id="Rfdb3fe5703854d3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7e2ab3280342ab" /><Relationship Type="http://schemas.openxmlformats.org/officeDocument/2006/relationships/slideMaster" Target="/ppt/slideMasters/slideMaster1.xml" Id="R6d1e11ac04304194" /><Relationship Type="http://schemas.openxmlformats.org/officeDocument/2006/relationships/notesMaster" Target="/ppt/notesMasters/notesMaster1.xml" Id="Rbf8b372b48e14536" /><Relationship Type="http://schemas.openxmlformats.org/officeDocument/2006/relationships/presProps" Target="/ppt/presProps.xml" Id="R9e6bbef8f5ff40e7" /><Relationship Type="http://schemas.openxmlformats.org/officeDocument/2006/relationships/tableStyles" Target="/ppt/tableStyles.xml" Id="R4abe5ad261b84a22" /><Relationship Type="http://schemas.openxmlformats.org/officeDocument/2006/relationships/slide" Target="/ppt/slides/slide1.xml" Id="R6a6ab140f80341a0" /><Relationship Type="http://schemas.openxmlformats.org/officeDocument/2006/relationships/slide" Target="/ppt/slides/slide2.xml" Id="Rb47ad266951143de" /><Relationship Type="http://schemas.openxmlformats.org/officeDocument/2006/relationships/slide" Target="/ppt/slides/slide3.xml" Id="R085d92aa13114e66" /><Relationship Type="http://schemas.openxmlformats.org/officeDocument/2006/relationships/slide" Target="/ppt/slides/slide4.xml" Id="R428be32dc08b494a" /><Relationship Type="http://schemas.openxmlformats.org/officeDocument/2006/relationships/slide" Target="/ppt/slides/slide5.xml" Id="R53903a881f564903" /><Relationship Type="http://schemas.openxmlformats.org/officeDocument/2006/relationships/slide" Target="/ppt/slides/slide6.xml" Id="R9ee5b8c6d0ed4e30" /><Relationship Type="http://schemas.openxmlformats.org/officeDocument/2006/relationships/slide" Target="/ppt/slides/slide7.xml" Id="R30ef110b5f964aef" /><Relationship Type="http://schemas.openxmlformats.org/officeDocument/2006/relationships/slide" Target="/ppt/slides/slide8.xml" Id="R07dcf000bba442cf" /><Relationship Type="http://schemas.openxmlformats.org/officeDocument/2006/relationships/slide" Target="/ppt/slides/slide9.xml" Id="R11dc52ca50f0413b" /><Relationship Type="http://schemas.openxmlformats.org/officeDocument/2006/relationships/slide" Target="/ppt/slides/slide10.xml" Id="Rfdb3fe5703854d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3625d53c4447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3855b8efba4d51" /><Relationship Type="http://schemas.openxmlformats.org/officeDocument/2006/relationships/notesMaster" Target="/ppt/notesMasters/notesMaster1.xml" Id="R949b799cc88749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27cf78dd60e418b" /><Relationship Type="http://schemas.openxmlformats.org/officeDocument/2006/relationships/notesMaster" Target="/ppt/notesMasters/notesMaster1.xml" Id="R13159ff34aed4e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29fa38839f4203" /><Relationship Type="http://schemas.openxmlformats.org/officeDocument/2006/relationships/notesMaster" Target="/ppt/notesMasters/notesMaster1.xml" Id="R60a54f0de3014da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0dfa27691f84cf8" /><Relationship Type="http://schemas.openxmlformats.org/officeDocument/2006/relationships/notesMaster" Target="/ppt/notesMasters/notesMaster1.xml" Id="R9bae9232e99c418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345e0224ee4504" /><Relationship Type="http://schemas.openxmlformats.org/officeDocument/2006/relationships/notesMaster" Target="/ppt/notesMasters/notesMaster1.xml" Id="R5d19395eb3b04b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0562528ef44c0a" /><Relationship Type="http://schemas.openxmlformats.org/officeDocument/2006/relationships/notesMaster" Target="/ppt/notesMasters/notesMaster1.xml" Id="R85e12563e11248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0331926b694274" /><Relationship Type="http://schemas.openxmlformats.org/officeDocument/2006/relationships/notesMaster" Target="/ppt/notesMasters/notesMaster1.xml" Id="Rdea41abf56634bf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b81024ef54a4104" /><Relationship Type="http://schemas.openxmlformats.org/officeDocument/2006/relationships/notesMaster" Target="/ppt/notesMasters/notesMaster1.xml" Id="R4fd1d3888c794c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bdaf2cc51944eb6" /><Relationship Type="http://schemas.openxmlformats.org/officeDocument/2006/relationships/notesMaster" Target="/ppt/notesMasters/notesMaster1.xml" Id="Rf70c9e6dd3b042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d1d9856c5004a56" /><Relationship Type="http://schemas.openxmlformats.org/officeDocument/2006/relationships/notesMaster" Target="/ppt/notesMasters/notesMaster1.xml" Id="R7f7880afb6ea46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7ef47d3bb04af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a7d9ce7716e464a" /><Relationship Type="http://schemas.openxmlformats.org/officeDocument/2006/relationships/slideLayout" Target="/ppt/slideLayouts/slideLayout1.xml" Id="Rca287aa882484f0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287aa882484f0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a0cd0b10b34e6d" /><Relationship Type="http://schemas.openxmlformats.org/officeDocument/2006/relationships/notesSlide" Target="/ppt/notesSlides/notesSlide1.xml" Id="Rf5829c3d77c34f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3c4eb16ac4685" /><Relationship Type="http://schemas.openxmlformats.org/officeDocument/2006/relationships/notesSlide" Target="/ppt/notesSlides/notesSlide2.xml" Id="R1d13a855c2e644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adf10975e4b2b" /><Relationship Type="http://schemas.openxmlformats.org/officeDocument/2006/relationships/notesSlide" Target="/ppt/notesSlides/notesSlide3.xml" Id="R9dfecb4f7c8849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84543ef5414b62" /><Relationship Type="http://schemas.openxmlformats.org/officeDocument/2006/relationships/notesSlide" Target="/ppt/notesSlides/notesSlide4.xml" Id="R419e5ad586a748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909e652e1d4d5b" /><Relationship Type="http://schemas.openxmlformats.org/officeDocument/2006/relationships/notesSlide" Target="/ppt/notesSlides/notesSlide5.xml" Id="Ra2234704ff2349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82af2a8ff54476" /><Relationship Type="http://schemas.openxmlformats.org/officeDocument/2006/relationships/notesSlide" Target="/ppt/notesSlides/notesSlide6.xml" Id="R72bc01cbc907443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7dcca93c240df" /><Relationship Type="http://schemas.openxmlformats.org/officeDocument/2006/relationships/notesSlide" Target="/ppt/notesSlides/notesSlide7.xml" Id="R4a0a5f4e69eb4a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c544239a094dbd" /><Relationship Type="http://schemas.openxmlformats.org/officeDocument/2006/relationships/notesSlide" Target="/ppt/notesSlides/notesSlide8.xml" Id="R8137cda91780410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d6b00adb1420f" /><Relationship Type="http://schemas.openxmlformats.org/officeDocument/2006/relationships/notesSlide" Target="/ppt/notesSlides/notesSlide9.xml" Id="Rabf6a6ba968044e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6c1bddbb54641" /><Relationship Type="http://schemas.openxmlformats.org/officeDocument/2006/relationships/notesSlide" Target="/ppt/notesSlides/notesSlide10.xml" Id="Rdd85e3cb273f428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4A18E6-B8B7-4EC8-B913-AFDCD063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8F9AFC-63D4-4930-81DD-B98689D4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90E70D-5D86-4A56-9146-C4E93A67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4F8A09-91D8-4D38-81D3-D7CAB9CC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AB5B9-9761-4C83-AFA3-A687E6C3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3AC56C-E272-45D6-B90B-3FE352A79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873058-0438-4FC2-83A6-86D8AE7E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6AAF6-66BF-44E8-8142-59BF2362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907AB9-8B92-4F5B-8CD8-D4A57C65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CBB77-DA8B-4C0B-82C6-B780C882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2666D8-E6AC-47A0-B741-502BD77C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083BF8-959C-4F69-9285-222D998D2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9F768-9670-413F-8596-E7B52491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35FC6-2960-40BD-9A7F-D09583E4F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B2E2EB-8489-4A6A-8531-9675A2B9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47882D-3E77-455C-888C-0E6A2BC1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ACF127-E22F-4A15-A918-98DDC5535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8C3F5F-5AE4-40A1-98AB-5318AA55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B17A34-4B2A-4C32-934D-5DD18CB19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EC28A4-5D6A-4536-BBBC-E9FF7E3A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3BA408-5858-4B36-B1D0-16B767AA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7FEE2E-77BF-4170-85AB-6D23A62A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A03325-DF96-4FBD-ADB6-2AFF33B8C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FCE70A-1B1F-415F-A418-DC5B6B68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706BDB-A917-4CBE-89DD-2B6800CB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FB3085-1C2B-43CE-93A2-FF4CEA9A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297BCA-C67B-464B-853E-D83E111E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2A79AB-DE72-4295-AB8E-42C3107E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02640"/>
          </a:solidFill>
          <a:ln xmlns:a="http://schemas.openxmlformats.org/drawingml/2006/main" w="9525">
            <a:solidFill>
              <a:srgbClr val="1D4E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D7FF"/>
                </a:solidFill>
              </a:defRPr>
            </a:pPr>
            <a:r>
              <a:rPr sz="975" b="1">
                <a:solidFill>
                  <a:srgbClr val="27D7FF"/>
                </a:solidFill>
              </a:rPr>
              <a:t>METISONE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C59E21-4362-4989-ABC1-5BDDEC64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544903-E335-4E45-9F53-6C907F99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2875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7FBFF"/>
                </a:solidFill>
              </a:defRPr>
            </a:pPr>
            <a:r>
              <a:rPr sz="4650" b="1">
                <a:solidFill>
                  <a:srgbClr val="F7FBFF"/>
                </a:solidFill>
              </a:rPr>
              <a:t>MetisOne Platform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6F911C-C1A3-43DD-9D21-9BA868BD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695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27D7FF"/>
                </a:solidFill>
              </a:defRPr>
            </a:pPr>
            <a:r>
              <a:rPr sz="2100" b="0">
                <a:solidFill>
                  <a:srgbClr val="27D7FF"/>
                </a:solidFill>
              </a:rPr>
              <a:t>AI agents for semantic BI on top of Cube Core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CB7936-0FD6-4C63-9F97-0B836B03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67050"/>
            <a:ext cx="628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9B8CE"/>
                </a:solidFill>
              </a:defRPr>
            </a:pPr>
            <a:r>
              <a:rPr sz="1800" b="0">
                <a:solidFill>
                  <a:srgbClr val="A9B8CE"/>
                </a:solidFill>
              </a:rPr>
              <a:t>Build semantic models through chat. Query data through chat.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3ABAC5B-AADE-4C40-977F-918F7DBC0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43050"/>
            <a:ext cx="2857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3B82F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Chat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8BAD6D-F1A5-4091-A6D3-55CF02CC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764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9B8CE"/>
                </a:solidFill>
              </a:defRPr>
            </a:pPr>
            <a:r>
              <a:rPr sz="1800" b="1">
                <a:solidFill>
                  <a:srgbClr val="A9B8CE"/>
                </a:solidFill>
              </a:rPr>
              <a:t>↓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4B8E4D8-0E3C-4087-A8FA-4414CBAE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81250"/>
            <a:ext cx="2857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8B5CF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AI Agent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5737DC0-CDA7-4703-84B8-CDEA5FAAC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146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9B8CE"/>
                </a:solidFill>
              </a:defRPr>
            </a:pPr>
            <a:r>
              <a:rPr sz="1800" b="1">
                <a:solidFill>
                  <a:srgbClr val="A9B8CE"/>
                </a:solidFill>
              </a:rPr>
              <a:t>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37D5901-9C74-4B6D-9AAF-E9F9618F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19450"/>
            <a:ext cx="2857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27D7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Semantic Layer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E008AE-B48E-4116-852D-930E8192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7528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A9B8CE"/>
                </a:solidFill>
              </a:defRPr>
            </a:pPr>
            <a:r>
              <a:rPr sz="1800" b="1">
                <a:solidFill>
                  <a:srgbClr val="A9B8CE"/>
                </a:solidFill>
              </a:rPr>
              <a:t>↓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7917B7-1260-4C17-97C0-55759F5D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57650"/>
            <a:ext cx="28575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34D39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Cube Core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185208-0A26-4C2A-8371-0A1E14BC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Scott Du</a:t>
            </a:r>
          </a:p>
        </p:txBody>
      </p:sp>
    </p:spTree>
    <p:extLst>
      <p:ext uri="{BB962C8B-B14F-4D97-AF65-F5344CB8AC3E}">
        <p14:creationId xmlns:p14="http://schemas.microsoft.com/office/powerpoint/2010/main" val="8684296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2EC928-5ECA-4D6F-BA64-19DC6089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6E7E2A-9D8E-48CF-971F-927FED78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DFC2F-B072-4BAA-87C7-75BA7077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50084B-04B9-46A4-A2D1-665C6886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BB5ACE-9045-4BF1-B70A-61A86DD44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FE2069-51AA-4660-9AF1-E6E7C8AF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F7878A-D5C1-4AA7-BAC7-6948D906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1DCA6-FCE2-4D55-8C45-E02E7A0F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954F3A-5531-4DB6-A92E-497C1E2B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44DF44-1435-41BE-8846-232F53EB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C42DE9-9F8C-418E-96B8-5F2FFBE2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B90CCA-F275-4A7F-9A7B-CEB5CF0B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49CF44-1E2D-4E1A-863C-D080819C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6200C9-DEB7-49C8-93F6-91EE7EF0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F7F520-93E8-49C8-9343-D7C4FE1AC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4B2C49-B713-4034-8762-D5B8AE4C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8184C6-09DE-4A3F-A2EB-2C05BE58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54C406-78C5-49CF-AB00-5EBF76EA6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C2E41F-28B7-4FBA-8E8F-AD40AE70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A6068F-CE13-4ABC-A209-349B8AB4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A7DFED-C47D-497D-8175-2205C3C0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A7AC58-B097-4FDE-ADE1-009ABA0B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77E296-30B7-4839-926D-E5CD4160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DB1316-1164-47FA-8338-880EF5F43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CFB4DE-1454-4CC8-BB7C-9CA445FF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E47719-9506-4453-929C-BB6159C9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87E3B1-FADB-4548-9EC9-ED09D3B4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90AE17-C0CA-4454-95DE-B15D0C4B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02640"/>
          </a:solidFill>
          <a:ln xmlns:a="http://schemas.openxmlformats.org/drawingml/2006/main" w="9525">
            <a:solidFill>
              <a:srgbClr val="1D4E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D7FF"/>
                </a:solidFill>
              </a:defRPr>
            </a:pPr>
            <a:r>
              <a:rPr sz="975" b="1">
                <a:solidFill>
                  <a:srgbClr val="27D7FF"/>
                </a:solidFill>
              </a:rPr>
              <a:t>METISONE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FAEF55-1EC1-4039-9FB3-14BD9081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62EAD3-823A-434A-949E-D7902B035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906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BFF"/>
                </a:solidFill>
              </a:defRPr>
            </a:pPr>
            <a:r>
              <a:rPr sz="3300" b="1">
                <a:solidFill>
                  <a:srgbClr val="F7FBFF"/>
                </a:solidFill>
              </a:rPr>
              <a:t>BI should do three simple things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28EC09-AD59-48A6-A218-E0EE3D368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790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9B8CE"/>
                </a:solidFill>
              </a:defRPr>
            </a:pPr>
            <a:r>
              <a:rPr sz="1800" b="0">
                <a:solidFill>
                  <a:srgbClr val="A9B8CE"/>
                </a:solidFill>
              </a:rPr>
              <a:t>Show the right data, to the right person, in the right way.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3D96FB-ED87-4D91-B09E-15634595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5275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27D7FF"/>
                </a:solidFill>
              </a:defRPr>
            </a:pPr>
            <a:r>
              <a:rPr sz="4350" b="1">
                <a:solidFill>
                  <a:srgbClr val="27D7FF"/>
                </a:solidFill>
              </a:rPr>
              <a:t>1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5C1190-0CC4-4DCF-81ED-7FC99F01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95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A9B8CE"/>
                </a:solidFill>
              </a:defRPr>
            </a:pPr>
            <a:r>
              <a:rPr sz="1425" b="0">
                <a:solidFill>
                  <a:srgbClr val="A9B8CE"/>
                </a:solidFill>
              </a:rPr>
              <a:t>Right data</a:t>
            </a:r>
          </a:p>
          <a:p xmlns:a="http://schemas.openxmlformats.org/drawingml/2006/main">
            <a:pPr algn="ctr">
              <a:defRPr sz="1425" b="0">
                <a:solidFill>
                  <a:srgbClr val="A9B8CE"/>
                </a:solidFill>
              </a:defRPr>
            </a:pPr>
            <a:r>
              <a:rPr sz="1425" b="0">
                <a:solidFill>
                  <a:srgbClr val="A9B8CE"/>
                </a:solidFill>
              </a:rPr>
              <a:t>Data querying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3C4F70E-CD5D-49F7-A5D7-978C4D6A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95275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8B5CF6"/>
                </a:solidFill>
              </a:defRPr>
            </a:pPr>
            <a:r>
              <a:rPr sz="4350" b="1">
                <a:solidFill>
                  <a:srgbClr val="8B5CF6"/>
                </a:solidFill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F0EAE9-2A20-438C-87A0-BEF52D990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695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A9B8CE"/>
                </a:solidFill>
              </a:defRPr>
            </a:pPr>
            <a:r>
              <a:rPr sz="1425" b="0">
                <a:solidFill>
                  <a:srgbClr val="A9B8CE"/>
                </a:solidFill>
              </a:rPr>
              <a:t>Right person</a:t>
            </a:r>
          </a:p>
          <a:p xmlns:a="http://schemas.openxmlformats.org/drawingml/2006/main">
            <a:pPr algn="ctr">
              <a:defRPr sz="1425" b="0">
                <a:solidFill>
                  <a:srgbClr val="A9B8CE"/>
                </a:solidFill>
              </a:defRPr>
            </a:pPr>
            <a:r>
              <a:rPr sz="1425" b="0">
                <a:solidFill>
                  <a:srgbClr val="A9B8CE"/>
                </a:solidFill>
              </a:rPr>
              <a:t>Security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295D27-78FD-46AF-ACFA-A595EFB3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5275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34D399"/>
                </a:solidFill>
              </a:defRPr>
            </a:pPr>
            <a:r>
              <a:rPr sz="4350" b="1">
                <a:solidFill>
                  <a:srgbClr val="34D399"/>
                </a:solidFill>
              </a:rPr>
              <a:t>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74102E-E00F-4283-8E9F-52DB2506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95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A9B8CE"/>
                </a:solidFill>
              </a:defRPr>
            </a:pPr>
            <a:r>
              <a:rPr sz="1425" b="0">
                <a:solidFill>
                  <a:srgbClr val="A9B8CE"/>
                </a:solidFill>
              </a:rPr>
              <a:t>Right way</a:t>
            </a:r>
          </a:p>
          <a:p xmlns:a="http://schemas.openxmlformats.org/drawingml/2006/main">
            <a:pPr algn="ctr">
              <a:defRPr sz="1425" b="0">
                <a:solidFill>
                  <a:srgbClr val="A9B8CE"/>
                </a:solidFill>
              </a:defRPr>
            </a:pPr>
            <a:r>
              <a:rPr sz="1425" b="0">
                <a:solidFill>
                  <a:srgbClr val="A9B8CE"/>
                </a:solidFill>
              </a:rPr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16512063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1A319A-D151-4D9A-B64D-AD9F902E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BC7121-6404-4C2F-82CC-CCCCB13F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543F23-BD4F-4E02-B1E8-D598D30D3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235AA-2A90-4B1F-A6EC-FA842DE3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2BC8D-8E9B-4DB7-8DAF-F25C29C63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EFB2AE-9A26-4C2E-B0BB-9F9A81E4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EEF248-3F5C-4E37-8C22-63A60008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EDF452-C4C4-4AF4-A9C1-C4E36AAE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89186D-D0BC-4F70-A49A-36982158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3E692A-C243-4DA6-9A42-DD1EB740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EC02BD-D185-4054-B325-794565C5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2FCAC6-4509-42C8-9845-AB2C080E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7ABACA-9E5C-49DF-8D4B-C55E24FC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45F1FE-E492-4ECC-8C83-DAE2F5F3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82D6AA-D9EC-46A6-8C13-CF5BD6E5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56E4D3-ACCB-4000-A197-CBE98285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7559EC-B93E-44B1-B3B0-7C029C56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FB6635-0B18-4FD4-8331-FB1F4119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54CD9A-F6CF-4F86-A476-9C9CC1A1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8E284D-E4AF-4924-967A-5AFEEE9A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23358D-96A6-4A66-BC69-CA84F40C0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E7E3A7-7376-4628-8741-C83785FD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79D3EA-6306-4610-9CDF-7CF31373B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4D4FE7-FFE3-4BFB-B537-204A2F85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4F4B7C-D679-4561-900B-2AF9C3F0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659569-8FF8-41BB-9C51-C93771BF9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3203E4-7ED2-403A-B909-487AAC5E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6D8046-9589-4B07-BA08-CA3FCEBA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02640"/>
          </a:solidFill>
          <a:ln xmlns:a="http://schemas.openxmlformats.org/drawingml/2006/main" w="9525">
            <a:solidFill>
              <a:srgbClr val="1D4E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D7FF"/>
                </a:solidFill>
              </a:defRPr>
            </a:pPr>
            <a:r>
              <a:rPr sz="975" b="1">
                <a:solidFill>
                  <a:srgbClr val="27D7FF"/>
                </a:solidFill>
              </a:rPr>
              <a:t>METISONE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1BBC09-E39A-4582-93E5-A816F872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351252-EB60-429D-B387-682B6CE0B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95350"/>
            <a:ext cx="857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BFF"/>
                </a:solidFill>
              </a:defRPr>
            </a:pPr>
            <a:r>
              <a:rPr sz="3150" b="1">
                <a:solidFill>
                  <a:srgbClr val="F7FBFF"/>
                </a:solidFill>
              </a:rPr>
              <a:t>Traditional BI became too heavy for many teams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DB791C-489E-4251-9A0B-E9005B6A5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01F33"/>
          </a:solidFill>
          <a:ln xmlns:a="http://schemas.openxmlformats.org/drawingml/2006/main" w="9525">
            <a:solidFill>
              <a:srgbClr val="1F3B5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6107401-F2A4-4C04-A13E-BD29D1A5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476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82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4B93470-01BA-4352-AE29-F2A07A77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431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BFF"/>
                </a:solidFill>
              </a:defRPr>
            </a:pPr>
            <a:r>
              <a:rPr sz="1800" b="1">
                <a:solidFill>
                  <a:srgbClr val="F7FBFF"/>
                </a:solidFill>
              </a:rPr>
              <a:t>Too many screens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3317CF1-A2B5-40D1-8F5B-BBFFE27A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19425"/>
            <a:ext cx="27432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Users jump between model editors, report builders, security settings, and filter panels.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7BC110-78FE-44BC-A227-DDFECFD7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01F33"/>
          </a:solidFill>
          <a:ln xmlns:a="http://schemas.openxmlformats.org/drawingml/2006/main" w="9525">
            <a:solidFill>
              <a:srgbClr val="1F3B5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61C0AC2-B4D8-446C-8538-6F7D7387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33625"/>
            <a:ext cx="476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750493F-3C94-4022-BD0B-B24339CD2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431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BFF"/>
                </a:solidFill>
              </a:defRPr>
            </a:pPr>
            <a:r>
              <a:rPr sz="1800" b="1">
                <a:solidFill>
                  <a:srgbClr val="F7FBFF"/>
                </a:solidFill>
              </a:rPr>
              <a:t>Too many features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2B9111-58A2-4636-8299-DF561111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019425"/>
            <a:ext cx="27432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Most teams only need a small part of the product, but they still pay for the full package.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C4491E-AAAC-4DFC-9FD7-7FBA5213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01F33"/>
          </a:solidFill>
          <a:ln xmlns:a="http://schemas.openxmlformats.org/drawingml/2006/main" w="9525">
            <a:solidFill>
              <a:srgbClr val="1F3B5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A12D82-27C4-4326-AFA7-AB588B87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4762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E788DB0-D9BC-46F2-8654-8756D114B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43175"/>
            <a:ext cx="2743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BFF"/>
                </a:solidFill>
              </a:defRPr>
            </a:pPr>
            <a:r>
              <a:rPr sz="1800" b="1">
                <a:solidFill>
                  <a:srgbClr val="F7FBFF"/>
                </a:solidFill>
              </a:rPr>
              <a:t>Too much setup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F542AC0-226C-47A3-8394-19618138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19425"/>
            <a:ext cx="27432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Before users get answers, they often need complex configuration and technical help.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E6877A3-EF31-4432-9BE8-656EB433F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86375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4D399"/>
                </a:solidFill>
              </a:defRPr>
            </a:pPr>
            <a:r>
              <a:rPr sz="2100" b="1">
                <a:solidFill>
                  <a:srgbClr val="34D399"/>
                </a:solidFill>
              </a:rPr>
              <a:t>Power is useful. Complexity is expensive.</a:t>
            </a:r>
          </a:p>
        </p:txBody>
      </p:sp>
    </p:spTree>
    <p:extLst>
      <p:ext uri="{BB962C8B-B14F-4D97-AF65-F5344CB8AC3E}">
        <p14:creationId xmlns:p14="http://schemas.microsoft.com/office/powerpoint/2010/main" val="4836363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580706-3286-4B6F-A277-FD258064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3681DA-ADEC-4E29-9E8D-A0621A39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A229E1-2FCA-48CF-95B1-1B19B366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1EF805-93C4-4842-904A-CC7D86F2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7A6621-FCC2-4FC3-8AED-2F374D2D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85BF8-32A4-4C9C-B3DA-462DC849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3BB184-B63D-4014-B18B-8FBC9FD8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06B1E2-5665-42DD-B596-0CB6DC67E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0FE494-BAC1-44D6-8C4F-720D335F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24437E-7F5A-4768-ABF9-65B0DDAA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BEE1A2-47A8-4660-A310-F1ED10EA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04A5F1-4DFC-4F3A-9313-6DDED085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3A7C51-2E9C-40D2-BCE0-107FF897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6EBE17-FBFA-4095-862F-1B73AA4A9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B82D5F-F812-4DE4-977B-0841ADAB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5D9276-A37C-4BF9-84A2-990A477A7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208B13-3859-4AE0-B57B-42359DEDB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F4921-5BA5-48D0-BD48-76B202A4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436832-300B-48B1-9F8D-019C1888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079C00-8618-48F8-AF66-721817DC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AA92FA-CDC2-455E-AC4D-84F6B94C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3E3F50-5EC9-47B1-A02A-355DE77A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F13BF6-D146-443A-8161-7C170045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9D376B-0186-4F95-843E-C1EBB5AA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782A31-3310-4C7A-A111-83161D20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A17DD5-43FF-4472-97F2-6CEEE855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2FEC4B-3928-4052-8600-6986FDA9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166403-B714-4924-94EE-758A7070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02640"/>
          </a:solidFill>
          <a:ln xmlns:a="http://schemas.openxmlformats.org/drawingml/2006/main" w="9525">
            <a:solidFill>
              <a:srgbClr val="1D4E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D7FF"/>
                </a:solidFill>
              </a:defRPr>
            </a:pPr>
            <a:r>
              <a:rPr sz="975" b="1">
                <a:solidFill>
                  <a:srgbClr val="27D7FF"/>
                </a:solidFill>
              </a:rPr>
              <a:t>METISONE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AAEF30-2220-4C3A-AC38-51B10CAE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423E8A6-A5E4-4AC2-8AD3-C4A964F47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7630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BFF"/>
                </a:solidFill>
              </a:defRPr>
            </a:pPr>
            <a:r>
              <a:rPr sz="3150" b="1">
                <a:solidFill>
                  <a:srgbClr val="F7FBFF"/>
                </a:solidFill>
              </a:rPr>
              <a:t>Most users only touch a small part of the BI product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99CE2E-74D2-4CE4-A9D9-1B4F9678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27D7FF"/>
                </a:solidFill>
              </a:defRPr>
            </a:pPr>
            <a:r>
              <a:rPr sz="4350" b="1">
                <a:solidFill>
                  <a:srgbClr val="27D7FF"/>
                </a:solidFill>
              </a:rPr>
              <a:t>20-30%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9A1C71-CB5B-4590-B9F0-EE0ED7B6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14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A9B8CE"/>
                </a:solidFill>
              </a:defRPr>
            </a:pPr>
            <a:r>
              <a:rPr sz="1425" b="0">
                <a:solidFill>
                  <a:srgbClr val="A9B8CE"/>
                </a:solidFill>
              </a:rPr>
              <a:t>features used often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2B0EE6-7E83-4DBF-9F6E-147BC3FE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7175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FB7185"/>
                </a:solidFill>
              </a:defRPr>
            </a:pPr>
            <a:r>
              <a:rPr sz="4350" b="1">
                <a:solidFill>
                  <a:srgbClr val="FB7185"/>
                </a:solidFill>
              </a:rPr>
              <a:t>70%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6F89B5-3704-46BF-9908-D4D57C01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14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A9B8CE"/>
                </a:solidFill>
              </a:defRPr>
            </a:pPr>
            <a:r>
              <a:rPr sz="1425" b="0">
                <a:solidFill>
                  <a:srgbClr val="A9B8CE"/>
                </a:solidFill>
              </a:rPr>
              <a:t>rarely used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3354C9D-9CD3-4E2A-9C8E-06703FEA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7175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FBBF24"/>
                </a:solidFill>
              </a:defRPr>
            </a:pPr>
            <a:r>
              <a:rPr sz="4350" b="1">
                <a:solidFill>
                  <a:srgbClr val="FBBF24"/>
                </a:solidFill>
              </a:rPr>
              <a:t>15%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91EDE9-08AA-4B4D-9F13-6C3A282C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14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A9B8CE"/>
                </a:solidFill>
              </a:defRPr>
            </a:pPr>
            <a:r>
              <a:rPr sz="1425" b="0">
                <a:solidFill>
                  <a:srgbClr val="A9B8CE"/>
                </a:solidFill>
              </a:rPr>
              <a:t>used monthly or quarterly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47213B-D6F0-4F3C-9BF6-A73A68DE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4825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A9B8CE"/>
                </a:solidFill>
              </a:defRPr>
            </a:pPr>
            <a:r>
              <a:rPr sz="1950" b="0">
                <a:solidFill>
                  <a:srgbClr val="A9B8CE"/>
                </a:solidFill>
              </a:rPr>
              <a:t>The company still pays for the whole system, including features most users never need.</a:t>
            </a:r>
          </a:p>
        </p:txBody>
      </p:sp>
    </p:spTree>
    <p:extLst>
      <p:ext uri="{BB962C8B-B14F-4D97-AF65-F5344CB8AC3E}">
        <p14:creationId xmlns:p14="http://schemas.microsoft.com/office/powerpoint/2010/main" val="70084369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40E210-A10E-46B0-8F1C-83BEEE62A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D21927-646B-478E-A828-B29D1D8F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0B0F79-D4E9-4032-98FF-84BA14B84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F7511-2DCF-40A5-8C85-35285D57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AD0A28-235B-43A4-9F55-0E7B0B55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41FC4C-1CC4-4A76-A8B0-A3DABB6B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2AABD-2578-4BA5-9E49-BFD16EC90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F93C4-47F4-4A52-88E5-B6217F08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A1FA96-C514-44AD-8FD7-3E7B743D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6D9AE-04DE-4A4E-A07C-B4F2CBD7C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AD842C-DAC0-41C1-9E2D-43E03002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7DC569-72C0-4B04-8B11-8D624A87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CC3AC1-2EBF-42DA-B493-55716722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CEB1D5-5D32-4BB8-AC56-EAE78271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429BE3-D05A-4ACE-BEEA-F69ECB4C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1F2850-71F9-4047-A5B4-E1B3F1EF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688A80-3AD1-4DE3-96EB-2C231D31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B18F0B-11CB-4F49-B90B-503FCAAA1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306C53-FBA7-4A4F-9DB9-85EF666C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6FF903-F62B-46DF-9B92-7A59D13B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DF8439-D19F-4317-B104-25805019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0B9849-9095-4CE9-A31A-75416098D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4D05E7-C9DB-4519-8BA6-F9B9E1EA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9724E5-10A8-42D9-AF75-86F8C8051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8275E9-9364-45AE-A6BF-D60A430E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09AE8C-2211-4AD5-A7BF-18E8217C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45FFA2-6FE9-4543-86AC-85E301CA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EBFC11-567F-4436-9EED-51711A043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02640"/>
          </a:solidFill>
          <a:ln xmlns:a="http://schemas.openxmlformats.org/drawingml/2006/main" w="9525">
            <a:solidFill>
              <a:srgbClr val="1D4E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D7FF"/>
                </a:solidFill>
              </a:defRPr>
            </a:pPr>
            <a:r>
              <a:rPr sz="975" b="1">
                <a:solidFill>
                  <a:srgbClr val="27D7FF"/>
                </a:solidFill>
              </a:rPr>
              <a:t>METISONE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475E9F-AB42-4033-8311-ACA5942F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5BD71F9-5D75-4A97-8467-AF5A3DE3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1440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7FBFF"/>
                </a:solidFill>
              </a:defRPr>
            </a:pPr>
            <a:r>
              <a:rPr sz="3300" b="1">
                <a:solidFill>
                  <a:srgbClr val="F7FBFF"/>
                </a:solidFill>
              </a:rPr>
              <a:t>MetisOne starts with user intent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05733C-9C1D-4599-A1DE-1794E9A8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1925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9B8CE"/>
                </a:solidFill>
              </a:defRPr>
            </a:pPr>
            <a:r>
              <a:rPr sz="1800" b="0">
                <a:solidFill>
                  <a:srgbClr val="A9B8CE"/>
                </a:solidFill>
              </a:rPr>
              <a:t>Instead of starting from configuration screens, users start with what they want to do.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137EFA-50FC-48B8-90DB-419730B5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81300"/>
            <a:ext cx="452437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01F33"/>
          </a:solidFill>
          <a:ln xmlns:a="http://schemas.openxmlformats.org/drawingml/2006/main" w="9525">
            <a:solidFill>
              <a:srgbClr val="1F3B5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F7DCEF-3AD4-48C9-8D10-BEF50CC47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8130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5DE7A00-68CD-4460-AE09-AE2358DE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90850"/>
            <a:ext cx="4029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BFF"/>
                </a:solidFill>
              </a:defRPr>
            </a:pPr>
            <a:r>
              <a:rPr sz="1800" b="1">
                <a:solidFill>
                  <a:srgbClr val="F7FBFF"/>
                </a:solidFill>
              </a:rPr>
              <a:t>Edit models with chat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125333-27F6-49F5-99A3-0E402C6F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40290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Example: Add a full name dimension to actor using first name and last name.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D8027BE-5DB1-43C7-A565-A328ED2E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452437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01F33"/>
          </a:solidFill>
          <a:ln xmlns:a="http://schemas.openxmlformats.org/drawingml/2006/main" w="9525">
            <a:solidFill>
              <a:srgbClr val="1F3B5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B8BF56-9DA5-45A4-B1BA-37F88ADE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20F260-4F8C-478D-8E2C-44942C05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90850"/>
            <a:ext cx="4029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BFF"/>
                </a:solidFill>
              </a:defRPr>
            </a:pPr>
            <a:r>
              <a:rPr sz="1800" b="1">
                <a:solidFill>
                  <a:srgbClr val="F7FBFF"/>
                </a:solidFill>
              </a:rPr>
              <a:t>Query data with chat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A44202-F145-4E1A-A83D-CB64049C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467100"/>
            <a:ext cx="40290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Example: How many Action films are there?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8E6C9D-F77F-4011-B652-89B0852C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334000"/>
            <a:ext cx="2381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9525">
            <a:solidFill>
              <a:srgbClr val="2443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BFF"/>
                </a:solidFill>
              </a:defRPr>
            </a:pPr>
            <a:r>
              <a:rPr sz="1350" b="1">
                <a:solidFill>
                  <a:srgbClr val="F7FBFF"/>
                </a:solidFill>
              </a:rPr>
              <a:t>Natural language in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03E118-6BA8-4F77-930C-101A6567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372100"/>
            <a:ext cx="523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A9B8CE"/>
                </a:solidFill>
              </a:defRPr>
            </a:pPr>
            <a:r>
              <a:rPr sz="2250" b="1">
                <a:solidFill>
                  <a:srgbClr val="A9B8CE"/>
                </a:solidFill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54836F-ADB2-41C4-96DD-8DCA5AFF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5334000"/>
            <a:ext cx="27622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9525">
            <a:solidFill>
              <a:srgbClr val="2443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BFF"/>
                </a:solidFill>
              </a:defRPr>
            </a:pPr>
            <a:r>
              <a:rPr sz="1350" b="1">
                <a:solidFill>
                  <a:srgbClr val="F7FBFF"/>
                </a:solidFill>
              </a:rPr>
              <a:t>Structured BI output</a:t>
            </a:r>
          </a:p>
        </p:txBody>
      </p:sp>
    </p:spTree>
    <p:extLst>
      <p:ext uri="{BB962C8B-B14F-4D97-AF65-F5344CB8AC3E}">
        <p14:creationId xmlns:p14="http://schemas.microsoft.com/office/powerpoint/2010/main" val="77416735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435B06-AEB9-469B-8473-DF6C51C8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24843-1E41-4EE9-9C18-47DA9BB6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87067A-761F-4538-9DD0-E15C9D05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E2ED15-6232-4A5E-A1C6-7EEC614B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6D881-F832-4781-8BD1-E1A385F4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FBE78-58AD-4220-B9E2-C06BD94F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67138B-9CD3-467F-BF40-A0893749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121E5F-E382-453A-B7E5-DCDB4396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F25954-CB52-44C9-AAD9-B6AA0D17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DE5090-E37D-4A49-AAA1-9CCC8A5D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956EC5-2E00-4326-AAC3-91260ED9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383F8-3565-41C4-BE53-673D7D17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B235A7-E3F9-4284-B71D-E52D8FB1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6E7D90-46EE-440D-B420-F80730FB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B067EE-394B-47D9-94F0-8A7E8801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F70CE7-A2EE-4E8E-BEE6-45CE60A1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FA3D98-FF04-4F81-9EDB-B99AA874F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876B9D-0558-47C7-8899-C07AF349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667393-C00B-44F1-9801-9335CF31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9C7903-B446-4230-BFB8-55D923CC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B62958-5B74-4019-9784-758AB483B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BEE64A-DAAE-4FE5-9DA9-FF4890F0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F21E74-1358-4A9B-A37E-88C3BFC9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81B6E5-A701-41F8-AF4D-06460F51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CB1462-1B01-49E3-B2C3-6C298CE6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583B2C-2341-4843-8B08-66344BCB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4D3601A-A54E-4AE0-811B-49644B56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56E03D-BD9B-4318-A4EF-872C84D5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02640"/>
          </a:solidFill>
          <a:ln xmlns:a="http://schemas.openxmlformats.org/drawingml/2006/main" w="9525">
            <a:solidFill>
              <a:srgbClr val="1D4E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D7FF"/>
                </a:solidFill>
              </a:defRPr>
            </a:pPr>
            <a:r>
              <a:rPr sz="975" b="1">
                <a:solidFill>
                  <a:srgbClr val="27D7FF"/>
                </a:solidFill>
              </a:rPr>
              <a:t>METISONE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F5D1B2-375F-4468-9C6A-8FC866D8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5D502F-F908-4A36-989E-4E07946C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95350"/>
            <a:ext cx="9334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BFF"/>
                </a:solidFill>
              </a:defRPr>
            </a:pPr>
            <a:r>
              <a:rPr sz="3150" b="1">
                <a:solidFill>
                  <a:srgbClr val="F7FBFF"/>
                </a:solidFill>
              </a:rPr>
              <a:t>MetisOne builds on Cube Core instead of replacing it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CFC040-F3FE-4B79-9F3B-F2881E6D5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3190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01F33"/>
          </a:solidFill>
          <a:ln xmlns:a="http://schemas.openxmlformats.org/drawingml/2006/main" w="9525">
            <a:solidFill>
              <a:srgbClr val="1F3B5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318E59-46AD-4344-B886-C598A174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FFE056-3FF3-4B57-A55A-49632A93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43175"/>
            <a:ext cx="2695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BFF"/>
                </a:solidFill>
              </a:defRPr>
            </a:pPr>
            <a:r>
              <a:rPr sz="1800" b="1">
                <a:solidFill>
                  <a:srgbClr val="F7FBFF"/>
                </a:solidFill>
              </a:rPr>
              <a:t>Cube Core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B4A1C2-74C4-4C6B-A1E8-9FB73C37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19425"/>
            <a:ext cx="269557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Open-source semantic layer and query engine. It handles Cube models and query execution.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DA4EDD0-6224-4AB7-A6F0-EAA683AE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33625"/>
            <a:ext cx="3190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01F33"/>
          </a:solidFill>
          <a:ln xmlns:a="http://schemas.openxmlformats.org/drawingml/2006/main" w="9525">
            <a:solidFill>
              <a:srgbClr val="1F3B5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A1B3046-6563-4ACF-88BA-3D6903F3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33625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DCFC18-EFB0-4C44-A869-66C6A3CA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43175"/>
            <a:ext cx="2695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BFF"/>
                </a:solidFill>
              </a:defRPr>
            </a:pPr>
            <a:r>
              <a:rPr sz="1800" b="1">
                <a:solidFill>
                  <a:srgbClr val="F7FBFF"/>
                </a:solidFill>
              </a:rPr>
              <a:t>MetisOne AI layer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EABEAFD-D1FF-4136-AEBD-61AE13F1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19425"/>
            <a:ext cx="269557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AI agents help edit semantic models and plan natural-language queries.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02E835C-7041-4DC9-9953-F575E5EC2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33625"/>
            <a:ext cx="3190875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01F33"/>
          </a:solidFill>
          <a:ln xmlns:a="http://schemas.openxmlformats.org/drawingml/2006/main" w="9525">
            <a:solidFill>
              <a:srgbClr val="1F3B5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3FC723-59B6-4654-A45A-90702C96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333625"/>
            <a:ext cx="4762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76D7628-734C-48B5-AB14-9DEB54DD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43175"/>
            <a:ext cx="26955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BFF"/>
                </a:solidFill>
              </a:defRPr>
            </a:pPr>
            <a:r>
              <a:rPr sz="1800" b="1">
                <a:solidFill>
                  <a:srgbClr val="F7FBFF"/>
                </a:solidFill>
              </a:rPr>
              <a:t>User workflows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813E36-9C07-4BCB-90E2-2D3BBE102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19425"/>
            <a:ext cx="2695575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Chat-based model editing, query validation, structured results, and logs.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9FA76C7-A5CD-4A0A-BDC0-38021CA2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34000"/>
            <a:ext cx="990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A9B8CE"/>
                </a:solidFill>
              </a:defRPr>
            </a:pPr>
            <a:r>
              <a:rPr sz="1950" b="0">
                <a:solidFill>
                  <a:srgbClr val="A9B8CE"/>
                </a:solidFill>
              </a:rPr>
              <a:t>The semantic layer stays central. AI makes it easier to build and use.</a:t>
            </a:r>
          </a:p>
        </p:txBody>
      </p:sp>
    </p:spTree>
    <p:extLst>
      <p:ext uri="{BB962C8B-B14F-4D97-AF65-F5344CB8AC3E}">
        <p14:creationId xmlns:p14="http://schemas.microsoft.com/office/powerpoint/2010/main" val="15340533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032AAD-0CC2-4DA0-AC20-EA75E8AD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21C52-59C7-4688-A5C7-C44EB906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EF1432-7D0F-434D-85D8-D1B2A29C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8526C6-861E-451E-A588-913A1002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711441-8C71-4D70-A46E-E1DA723C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51D364-5BDC-40B2-AE92-B0D2C7325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08B78-B43A-479E-B7B0-F8B56346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C15243-9D7A-4465-B6A5-E424ABE2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D83140-1F32-4C1E-AAE1-8F7CB1A92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F024A-B6E5-46B9-B7C0-83C0542C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EFAC35-BDDF-4F13-B145-146DB9CB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44700-280B-4CED-BDD6-09FE4226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A9FD24-BB19-40C8-823D-868240117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D35324-CEC1-482E-BE5C-DAACE73F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2AF8E2-0867-4F41-BE47-97DAA35C3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FF8BD-B468-4826-88E1-2CA23FE5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BED562-871A-4AAF-9498-99D186DA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4B79A9-63E7-4E10-BBCD-938582E6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165475-BD9C-4779-8B12-9FFBDE1C5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5E7294-A075-42D3-89A6-040A418A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73FF4C-5C53-4A9B-BA93-8C9DD233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B73063-4FA5-479C-AB4C-C7BB740C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18F10A-8A88-427B-8D74-1F9C4D8E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6022BB-16E9-482B-A69E-A7AD2CF0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344E1C-EB09-4D3C-994F-9FA02DAA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021F75-A866-41C5-90DF-D352C0C7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53DEB7-E1C3-4B3B-A715-8ADB58E3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9C6FE2-0A06-4160-A3BF-90525753A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02640"/>
          </a:solidFill>
          <a:ln xmlns:a="http://schemas.openxmlformats.org/drawingml/2006/main" w="9525">
            <a:solidFill>
              <a:srgbClr val="1D4E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D7FF"/>
                </a:solidFill>
              </a:defRPr>
            </a:pPr>
            <a:r>
              <a:rPr sz="975" b="1">
                <a:solidFill>
                  <a:srgbClr val="27D7FF"/>
                </a:solidFill>
              </a:rPr>
              <a:t>METISONE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8CD86D-5457-41A6-A087-5EAEF39E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EDA700-F892-4B62-81C5-69932C9D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0100"/>
            <a:ext cx="942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75" b="1">
                <a:solidFill>
                  <a:srgbClr val="F7FBFF"/>
                </a:solidFill>
              </a:defRPr>
            </a:pPr>
            <a:r>
              <a:rPr sz="3075" b="1">
                <a:solidFill>
                  <a:srgbClr val="F7FBFF"/>
                </a:solidFill>
              </a:rPr>
              <a:t>Semantic model editing happens through a controlled service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8BDC15-5DD0-4E46-8F0D-A38B39535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66950"/>
            <a:ext cx="1762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3B82F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Chat UI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EDD776-0D31-4693-8680-CF55FFD84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381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9B8CE"/>
                </a:solidFill>
              </a:defRPr>
            </a:pPr>
            <a:r>
              <a:rPr sz="1950" b="1">
                <a:solidFill>
                  <a:srgbClr val="A9B8CE"/>
                </a:solidFill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68D526-E096-4427-9722-B5A41A28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2266950"/>
            <a:ext cx="1762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8B5CF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AI Agent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EB2EA4C-576F-4D41-8758-9E8A33F73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2381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9B8CE"/>
                </a:solidFill>
              </a:defRPr>
            </a:pPr>
            <a:r>
              <a:rPr sz="1950" b="1">
                <a:solidFill>
                  <a:srgbClr val="A9B8CE"/>
                </a:solidFill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1C1E87-B6AC-46F5-A117-5A6A9994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266950"/>
            <a:ext cx="1762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27D7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Edit API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A0D338-0446-4117-8ABD-F355848D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381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9B8CE"/>
                </a:solidFill>
              </a:defRPr>
            </a:pPr>
            <a:r>
              <a:rPr sz="1950" b="1">
                <a:solidFill>
                  <a:srgbClr val="A9B8CE"/>
                </a:solidFill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065002-7DA6-4E61-8D09-A81ACC1FE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66950"/>
            <a:ext cx="1762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34D39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Cube YAML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671A9B-7B33-42EA-A683-77C3F6BB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3812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9B8CE"/>
                </a:solidFill>
              </a:defRPr>
            </a:pPr>
            <a:r>
              <a:rPr sz="1950" b="1">
                <a:solidFill>
                  <a:srgbClr val="A9B8CE"/>
                </a:solidFill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43DEE8-5D3A-4472-863A-AAB0D71F1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266950"/>
            <a:ext cx="176212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FBBF2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Compile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FE1FF3-C73D-4BF0-90E9-91CF1FA3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14750"/>
            <a:ext cx="952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A9B8CE"/>
                </a:solidFill>
              </a:defRPr>
            </a:pPr>
            <a:r>
              <a:rPr sz="1950" b="0">
                <a:solidFill>
                  <a:srgbClr val="A9B8CE"/>
                </a:solidFill>
              </a:rPr>
              <a:t>The user describes the change. MetisOne turns it into a safe semantic model operation.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1D70775-602C-4BAA-945B-98D262F9E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5775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7D7FF"/>
                </a:solidFill>
              </a:defRPr>
            </a:pPr>
            <a:r>
              <a:rPr sz="2100" b="1">
                <a:solidFill>
                  <a:srgbClr val="27D7FF"/>
                </a:solidFill>
              </a:rPr>
              <a:t>Example: Add full_name to actor from first_name and last_name.</a:t>
            </a:r>
          </a:p>
        </p:txBody>
      </p:sp>
    </p:spTree>
    <p:extLst>
      <p:ext uri="{BB962C8B-B14F-4D97-AF65-F5344CB8AC3E}">
        <p14:creationId xmlns:p14="http://schemas.microsoft.com/office/powerpoint/2010/main" val="20606305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A6AF15-740B-4625-A7BD-E738D2A72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85801D-00F8-4864-AC9E-D8F75485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2FA63-CCC0-4976-BD0F-92062F27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34EC67-7AC4-4D38-9578-D342D539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302C02-838A-48A2-9203-3FA1319B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D9C85-500F-4123-9EFC-C5778E9D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EF7317-27D8-45FA-A646-7C8F40F6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910AEA-F40D-47B3-AE56-8C0D58E12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D73C8F-AC6E-4569-968F-BD59FCF8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B5FBE9-A73B-4227-803D-5F4988A7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9AEB7F-0707-4C62-AD72-5059CA6F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4EF0E-2659-41A3-BE29-43B01725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6EFF3-CF07-4B5A-96EB-E1147637E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7EB4D6-68AC-48AF-B597-F30E01DE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950BE-B6B8-4DDE-9147-62A1E06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D3E909-556F-44DB-8D20-5E7DD460C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129C62-8F5C-4D06-AFAA-59A1F2FB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CD6B5C-5B74-4D63-AFDA-1EC1B745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FB8072-4E31-44D9-A627-9C73F47C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C7498A-7914-4FFC-9AC6-5623B2B6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DB96AE-8DA4-4D51-91AB-559987AA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758570-7814-4F67-96F4-45D9E25A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66A529-AE8F-4669-AF32-F66FB008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449AC2-C33C-442B-BB02-3A889707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127882-3438-4E9D-A2D3-D39688DF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404890-3B1A-4646-88F5-A08C89507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C0B730-C9DF-4A5C-A563-86A3E015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5DEC55-E39D-4311-ABBA-DE613F63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02640"/>
          </a:solidFill>
          <a:ln xmlns:a="http://schemas.openxmlformats.org/drawingml/2006/main" w="9525">
            <a:solidFill>
              <a:srgbClr val="1D4E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D7FF"/>
                </a:solidFill>
              </a:defRPr>
            </a:pPr>
            <a:r>
              <a:rPr sz="975" b="1">
                <a:solidFill>
                  <a:srgbClr val="27D7FF"/>
                </a:solidFill>
              </a:rPr>
              <a:t>METISONE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3C6273-4B15-40D1-9CEA-878D366AF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C78F43-A2B8-4565-AC47-EB27C889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0100"/>
            <a:ext cx="8858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BFF"/>
                </a:solidFill>
              </a:defRPr>
            </a:pPr>
            <a:r>
              <a:rPr sz="3150" b="1">
                <a:solidFill>
                  <a:srgbClr val="F7FBFF"/>
                </a:solidFill>
              </a:rPr>
              <a:t>Data queries are planned, checked, and executed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F49601-84BA-42B9-A7EB-E80F9153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3B82F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5818CE3-4B3E-4F25-A9C0-71C696A16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Question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2DE2B0-FCEF-495D-94AB-3F547BBB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" y="3371850"/>
            <a:ext cx="1619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8CE"/>
                </a:solidFill>
              </a:defRPr>
            </a:pPr>
            <a:r>
              <a:rPr sz="1275" b="0">
                <a:solidFill>
                  <a:srgbClr val="A9B8CE"/>
                </a:solidFill>
              </a:rPr>
              <a:t>How many films are there?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49962E-328A-4F1D-96D6-4969F97E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9B8CE"/>
                </a:solidFill>
              </a:defRPr>
            </a:pPr>
            <a:r>
              <a:rPr sz="1950" b="1">
                <a:solidFill>
                  <a:srgbClr val="A9B8CE"/>
                </a:solidFill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2403DE2-930C-46D8-84D3-50DFEEFD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238375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8B5CF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2E1110-B306-40AC-A1CF-30F9858B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9718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Plan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617A867-D8DA-4397-A666-2F34E8422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3371850"/>
            <a:ext cx="1619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8CE"/>
                </a:solidFill>
              </a:defRPr>
            </a:pPr>
            <a:r>
              <a:rPr sz="1275" b="0">
                <a:solidFill>
                  <a:srgbClr val="A9B8CE"/>
                </a:solidFill>
              </a:rPr>
              <a:t>AI creates Cube REST JSON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2426AB-0311-42D9-8FE2-F13131FF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2333625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9B8CE"/>
                </a:solidFill>
              </a:defRPr>
            </a:pPr>
            <a:r>
              <a:rPr sz="1950" b="1">
                <a:solidFill>
                  <a:srgbClr val="A9B8CE"/>
                </a:solidFill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958E17-A030-4DDB-9E2F-CD8E91CD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38375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27D7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6748D8-4615-49A1-BEFF-C5D314BD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9718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Validate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60FCAB-265B-4D6C-88A2-2C543840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3371850"/>
            <a:ext cx="1619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8CE"/>
                </a:solidFill>
              </a:defRPr>
            </a:pPr>
            <a:r>
              <a:rPr sz="1275" b="0">
                <a:solidFill>
                  <a:srgbClr val="A9B8CE"/>
                </a:solidFill>
              </a:rPr>
              <a:t>Check members and query shape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E946D89-40E7-40CC-A9CF-F269F74F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333625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9B8CE"/>
                </a:solidFill>
              </a:defRPr>
            </a:pPr>
            <a:r>
              <a:rPr sz="1950" b="1">
                <a:solidFill>
                  <a:srgbClr val="A9B8CE"/>
                </a:solidFill>
              </a:rPr>
              <a:t>→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E74C27-440B-4C1F-9D8D-BA4683C7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238375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34D39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7254240-390F-4150-8944-706EC09D8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9718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Run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D1AA57B-EB57-40A3-BD39-DDEC0FB3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3371850"/>
            <a:ext cx="1619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8CE"/>
                </a:solidFill>
              </a:defRPr>
            </a:pPr>
            <a:r>
              <a:rPr sz="1275" b="0">
                <a:solidFill>
                  <a:srgbClr val="A9B8CE"/>
                </a:solidFill>
              </a:rPr>
              <a:t>Call Cube /load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FA99C1-5832-4E70-AF42-988687E1B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333625"/>
            <a:ext cx="47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A9B8CE"/>
                </a:solidFill>
              </a:defRPr>
            </a:pPr>
            <a:r>
              <a:rPr sz="1950" b="1">
                <a:solidFill>
                  <a:srgbClr val="A9B8CE"/>
                </a:solidFill>
              </a:rPr>
              <a:t>→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563E48D-3BEF-4013-80EB-91681197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238375"/>
            <a:ext cx="5524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F2136"/>
          </a:solidFill>
          <a:ln xmlns:a="http://schemas.openxmlformats.org/drawingml/2006/main" w="14288">
            <a:solidFill>
              <a:srgbClr val="FBBF2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B16567-EBF0-4116-8556-9A2C5E5A8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7180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FBFF"/>
                </a:solidFill>
              </a:defRPr>
            </a:pPr>
            <a:r>
              <a:rPr sz="1650" b="1">
                <a:solidFill>
                  <a:srgbClr val="F7FBFF"/>
                </a:solidFill>
              </a:rPr>
              <a:t>Answer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69A287B-DDD8-456A-9EF6-DF881734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3371850"/>
            <a:ext cx="1619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A9B8CE"/>
                </a:solidFill>
              </a:defRPr>
            </a:pPr>
            <a:r>
              <a:rPr sz="1275" b="0">
                <a:solidFill>
                  <a:srgbClr val="A9B8CE"/>
                </a:solidFill>
              </a:rPr>
              <a:t>Return structured results</a:t>
            </a:r>
          </a:p>
        </p:txBody>
      </p:sp>
    </p:spTree>
    <p:extLst>
      <p:ext uri="{BB962C8B-B14F-4D97-AF65-F5344CB8AC3E}">
        <p14:creationId xmlns:p14="http://schemas.microsoft.com/office/powerpoint/2010/main" val="1809475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F3A54E-535A-4095-82AB-692EB95F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7772F-CBCB-4348-BFEC-F33753BC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0534C-57E4-48CE-8F59-78466888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82FF0-6961-4B05-9AF7-A23ABFBD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2A4AB-792C-4ACE-8B64-D753895A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A3F4B-7D82-44C0-A3A9-34C88938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D49E9-C4E3-45FC-8CF4-9AE2F47D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C1E42-0CD5-4BB7-9E75-F6A748C8E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C6C368-E747-4145-BBCA-61C2C1F9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CF464C-5B07-41FD-A2A7-937205F9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697528-DCAE-431D-8426-EDDB2AAA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930D2F-4FA0-4FB4-842A-0B950DA6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88B70F-D777-4065-A67C-4B6BE6B0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DE8A6C-F413-4921-9B82-1827C916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46B783-3841-4303-89A5-FBF67450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7FBF97-BA74-463C-8F9A-232E6698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1CA355-7711-4A75-8A44-A777E75A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0043B2-D4AA-4736-A822-F815E28F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252096-B4F6-409F-AB38-B9D6228D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D51092-64EA-471D-A871-0FF0C1F1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1C9D49-6D55-432C-8C28-515B48B2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439C78-8D18-4EB1-9F26-3D38AE7A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EBBA9C-A1D1-467C-B4FE-16E2FE59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40BBA6-A636-4C2E-84FB-59E82C1D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545482-088A-4058-85F3-86D97937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B07733-09F0-4D10-A839-441C2822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8696BC-DAE8-4410-84DF-D9CC3848F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B4D7B0-4358-4CFF-BBDA-A58E5410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02640"/>
          </a:solidFill>
          <a:ln xmlns:a="http://schemas.openxmlformats.org/drawingml/2006/main" w="9525">
            <a:solidFill>
              <a:srgbClr val="1D4E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D7FF"/>
                </a:solidFill>
              </a:defRPr>
            </a:pPr>
            <a:r>
              <a:rPr sz="975" b="1">
                <a:solidFill>
                  <a:srgbClr val="27D7FF"/>
                </a:solidFill>
              </a:rPr>
              <a:t>METISONE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66DE0A-5365-49A9-8F79-A1DF27A27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03DEF1-B392-4DB6-B691-8BC88C9D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76300"/>
            <a:ext cx="885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BFF"/>
                </a:solidFill>
              </a:defRPr>
            </a:pPr>
            <a:r>
              <a:rPr sz="3150" b="1">
                <a:solidFill>
                  <a:srgbClr val="F7FBFF"/>
                </a:solidFill>
              </a:rPr>
              <a:t>The logs make AI behavior easier to inspect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C8BEFD-D0F0-42EB-B042-99356597F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4429125" cy="2143125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F33"/>
          </a:solidFill>
          <a:ln xmlns:a="http://schemas.openxmlformats.org/drawingml/2006/main" w="9525">
            <a:solidFill>
              <a:srgbClr val="1F3B5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BEE114-92D8-4E52-AD91-B06AE819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47625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84E84-4C60-4237-AD1F-569EA3BB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447925"/>
            <a:ext cx="3933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BFF"/>
                </a:solidFill>
              </a:defRPr>
            </a:pPr>
            <a:r>
              <a:rPr sz="1800" b="1">
                <a:solidFill>
                  <a:srgbClr val="F7FBFF"/>
                </a:solidFill>
              </a:rPr>
              <a:t>Request log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3BD71B-3BA5-43D9-AA3A-0ED65DE8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24175"/>
            <a:ext cx="3933825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Stores the user question, final service response, Cube query plan, rows, and timing.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CAC7C0-5B33-4A35-98E8-9CCBA843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238375"/>
            <a:ext cx="4429125" cy="2143125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01F33"/>
          </a:solidFill>
          <a:ln xmlns:a="http://schemas.openxmlformats.org/drawingml/2006/main" w="9525">
            <a:solidFill>
              <a:srgbClr val="1F3B57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23A6A3-30F3-42DC-9518-0F5887F19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238375"/>
            <a:ext cx="47625" cy="2143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599C3B9-F77D-411F-B42B-BEC5728E8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447925"/>
            <a:ext cx="39338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BFF"/>
                </a:solidFill>
              </a:defRPr>
            </a:pPr>
            <a:r>
              <a:rPr sz="1800" b="1">
                <a:solidFill>
                  <a:srgbClr val="F7FBFF"/>
                </a:solidFill>
              </a:rPr>
              <a:t>LLM trace log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EFA34D2-DE16-4D83-9B94-5014A9AE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2924175"/>
            <a:ext cx="3933825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8CE"/>
                </a:solidFill>
              </a:defRPr>
            </a:pPr>
            <a:r>
              <a:rPr sz="1350" b="0">
                <a:solidFill>
                  <a:srgbClr val="A9B8CE"/>
                </a:solidFill>
              </a:rPr>
              <a:t>Stores the model input, raw model output, parsed payload, and final Cube query. API keys are not logged.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EBC153-44C8-4735-B117-EAF075BB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971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A9B8CE"/>
                </a:solidFill>
              </a:defRPr>
            </a:pPr>
            <a:r>
              <a:rPr sz="1875" b="0">
                <a:solidFill>
                  <a:srgbClr val="A9B8CE"/>
                </a:solidFill>
              </a:rPr>
              <a:t>This helps developers understand why a query was generated and how to improve the system.</a:t>
            </a:r>
          </a:p>
        </p:txBody>
      </p:sp>
    </p:spTree>
    <p:extLst>
      <p:ext uri="{BB962C8B-B14F-4D97-AF65-F5344CB8AC3E}">
        <p14:creationId xmlns:p14="http://schemas.microsoft.com/office/powerpoint/2010/main" val="7120659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25DA65-B5CE-4FB8-BBF6-C9164C584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EACA0B-786C-4D15-87BC-156FF1129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71B71-CC5E-48B8-8091-C091DAAA1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6ED016-CC24-47A5-A91B-74DEFEE7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F87FA9-6813-4F6B-BA8F-691281A1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3FE99E-185D-4DF6-AB0F-236C622A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1F5BA-4D36-4115-BD6C-0B09E6C0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404CE5-D165-45CF-8145-7325C1943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35F9CF-DE95-4892-A94C-B074C04B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971007-39DF-4507-986A-E6CC08BF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41465B-0C4B-43DA-9895-C1C15759D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6A2ED1-E52E-4978-9332-E7B90484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4DCAC2-0BBA-4791-8D12-C63D270C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FAF1DE-2393-40E3-AFE6-B2059944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7CA97C-6EAB-4490-BBAC-C75AFC67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DFF886-44F3-4062-9E68-3E5338E35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E06523-6F0A-4657-9BDD-2361EEFC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69551F-ABB6-48A3-9C89-9632313F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F06180-A70A-4E5F-9E75-AE5C71D2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405EB6-B774-4446-8C54-303EDF43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487B61-DEEA-4A0B-A76C-4EC14493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7EB249-98CD-4BE6-B93B-64428AEB2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05BA2F-0655-4007-BC1C-F01D4CE3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D289C2-5844-475A-8976-A689A2B47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A44830-99DE-4C65-BE09-44948B2C7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5246CA-BC03-4185-9621-712A06DB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4EB66F6-0AA5-455F-A0FB-906C069F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B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AB5FC9-4DF1-4AA2-BBCC-B143F068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257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02640"/>
          </a:solidFill>
          <a:ln xmlns:a="http://schemas.openxmlformats.org/drawingml/2006/main" w="9525">
            <a:solidFill>
              <a:srgbClr val="1D4E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7D7FF"/>
                </a:solidFill>
              </a:defRPr>
            </a:pPr>
            <a:r>
              <a:rPr sz="975" b="1">
                <a:solidFill>
                  <a:srgbClr val="27D7FF"/>
                </a:solidFill>
              </a:rPr>
              <a:t>METISONE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BBA900-168F-4E45-B5B1-1A619FA7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C8CE72-8FE4-4174-BD7B-C6442B11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143000"/>
            <a:ext cx="876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7FBFF"/>
                </a:solidFill>
              </a:defRPr>
            </a:pPr>
            <a:r>
              <a:rPr sz="3450" b="1">
                <a:solidFill>
                  <a:srgbClr val="F7FBFF"/>
                </a:solidFill>
              </a:rPr>
              <a:t>The goal is not to remove BI. It is to make BI easier.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5F41480-4FC4-458D-B5CB-01090DFA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9048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A9B8CE"/>
                </a:solidFill>
              </a:defRPr>
            </a:pPr>
            <a:r>
              <a:rPr sz="1950" b="0">
                <a:solidFill>
                  <a:srgbClr val="A9B8CE"/>
                </a:solidFill>
              </a:rPr>
              <a:t>MetisOne keeps the semantic layer, uses Cube Core as the foundation, and adds AI agents to simplify the user experience.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75438E-8994-4BE7-9731-CD712374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333875"/>
            <a:ext cx="26670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3B82F6"/>
          </a:solidFill>
          <a:ln xmlns:a="http://schemas.openxmlformats.org/drawingml/2006/main" w="9525">
            <a:solidFill>
              <a:srgbClr val="2443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BFF"/>
                </a:solidFill>
              </a:defRPr>
            </a:pPr>
            <a:r>
              <a:rPr sz="1350" b="1">
                <a:solidFill>
                  <a:srgbClr val="F7FBFF"/>
                </a:solidFill>
              </a:rPr>
              <a:t>Build models with chat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383215-493D-4CB8-A2B0-1A6C27BA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333875"/>
            <a:ext cx="333375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9525">
            <a:solidFill>
              <a:srgbClr val="2443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BFF"/>
                </a:solidFill>
              </a:defRPr>
            </a:pPr>
            <a:r>
              <a:rPr sz="1350" b="1">
                <a:solidFill>
                  <a:srgbClr val="F7FBFF"/>
                </a:solidFill>
              </a:rPr>
              <a:t>Ask data questions with chat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B06D0B-749E-4A6F-9B8E-3B942F51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33875"/>
            <a:ext cx="26670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9525">
            <a:solidFill>
              <a:srgbClr val="24435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BFF"/>
                </a:solidFill>
              </a:defRPr>
            </a:pPr>
            <a:r>
              <a:rPr sz="1350" b="1">
                <a:solidFill>
                  <a:srgbClr val="F7FBFF"/>
                </a:solidFill>
              </a:rPr>
              <a:t>Keep results structured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EC5744-2CAC-4A6F-A00C-D682D4223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340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7D7FF"/>
                </a:solidFill>
              </a:defRPr>
            </a:pPr>
            <a:r>
              <a:rPr sz="2250" b="1">
                <a:solidFill>
                  <a:srgbClr val="27D7FF"/>
                </a:solidFill>
              </a:rPr>
              <a:t>Thanks for watching.</a:t>
            </a:r>
          </a:p>
        </p:txBody>
      </p:sp>
    </p:spTree>
    <p:extLst>
      <p:ext uri="{BB962C8B-B14F-4D97-AF65-F5344CB8AC3E}">
        <p14:creationId xmlns:p14="http://schemas.microsoft.com/office/powerpoint/2010/main" val="8276203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2026-07-20T09:22:05.7900000Z</dcterms:created>
  <dcterms:modified xsi:type="dcterms:W3CDTF">2026-07-20T09:22:05.7900000Z</dcterms:modified>
</coreProperties>
</file>